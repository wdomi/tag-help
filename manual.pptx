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B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45"/>
    <p:restoredTop sz="94716"/>
  </p:normalViewPr>
  <p:slideViewPr>
    <p:cSldViewPr snapToGrid="0">
      <p:cViewPr>
        <p:scale>
          <a:sx n="184" d="100"/>
          <a:sy n="184" d="100"/>
        </p:scale>
        <p:origin x="71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11167-901B-134E-B0EE-26BE5628E239}" type="datetimeFigureOut">
              <a:rPr lang="en-CH" smtClean="0"/>
              <a:t>01.02.2026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31442-3126-4944-B662-56CA5F89313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47083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11167-901B-134E-B0EE-26BE5628E239}" type="datetimeFigureOut">
              <a:rPr lang="en-CH" smtClean="0"/>
              <a:t>01.02.2026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31442-3126-4944-B662-56CA5F89313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66685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11167-901B-134E-B0EE-26BE5628E239}" type="datetimeFigureOut">
              <a:rPr lang="en-CH" smtClean="0"/>
              <a:t>01.02.2026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31442-3126-4944-B662-56CA5F89313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69759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11167-901B-134E-B0EE-26BE5628E239}" type="datetimeFigureOut">
              <a:rPr lang="en-CH" smtClean="0"/>
              <a:t>01.02.2026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31442-3126-4944-B662-56CA5F89313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21680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11167-901B-134E-B0EE-26BE5628E239}" type="datetimeFigureOut">
              <a:rPr lang="en-CH" smtClean="0"/>
              <a:t>01.02.2026</a:t>
            </a:fld>
            <a:endParaRPr lang="en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31442-3126-4944-B662-56CA5F89313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37931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11167-901B-134E-B0EE-26BE5628E239}" type="datetimeFigureOut">
              <a:rPr lang="en-CH" smtClean="0"/>
              <a:t>01.02.2026</a:t>
            </a:fld>
            <a:endParaRPr lang="en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31442-3126-4944-B662-56CA5F89313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11644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11167-901B-134E-B0EE-26BE5628E239}" type="datetimeFigureOut">
              <a:rPr lang="en-CH" smtClean="0"/>
              <a:t>01.02.2026</a:t>
            </a:fld>
            <a:endParaRPr lang="en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31442-3126-4944-B662-56CA5F89313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0730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11167-901B-134E-B0EE-26BE5628E239}" type="datetimeFigureOut">
              <a:rPr lang="en-CH" smtClean="0"/>
              <a:t>01.02.2026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31442-3126-4944-B662-56CA5F89313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6592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11167-901B-134E-B0EE-26BE5628E239}" type="datetimeFigureOut">
              <a:rPr lang="en-CH" smtClean="0"/>
              <a:t>01.02.2026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31442-3126-4944-B662-56CA5F89313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13208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11167-901B-134E-B0EE-26BE5628E239}" type="datetimeFigureOut">
              <a:rPr lang="en-CH" smtClean="0"/>
              <a:t>01.02.2026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31442-3126-4944-B662-56CA5F89313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34510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11167-901B-134E-B0EE-26BE5628E239}" type="datetimeFigureOut">
              <a:rPr lang="en-CH" smtClean="0"/>
              <a:t>01.02.2026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31442-3126-4944-B662-56CA5F89313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82036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E11167-901B-134E-B0EE-26BE5628E239}" type="datetimeFigureOut">
              <a:rPr lang="en-CH" smtClean="0"/>
              <a:t>01.02.2026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031442-3126-4944-B662-56CA5F89313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19046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1F698A-887C-07FF-D039-B6D030C5082E}"/>
              </a:ext>
            </a:extLst>
          </p:cNvPr>
          <p:cNvSpPr txBox="1"/>
          <p:nvPr/>
        </p:nvSpPr>
        <p:spPr>
          <a:xfrm>
            <a:off x="175124" y="178838"/>
            <a:ext cx="6356469" cy="7368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100" dirty="0"/>
              <a:t>L’applicazione funziona automaticamente su telefoni Android, per iPhone (é troppo sicuro) bisogna aprirla con l’app ”Documents”.        .</a:t>
            </a:r>
          </a:p>
          <a:p>
            <a:endParaRPr lang="en-CH" sz="1100" dirty="0"/>
          </a:p>
          <a:p>
            <a:r>
              <a:rPr lang="en-CH" sz="1100" dirty="0"/>
              <a:t>Tutto si basa su 2 singoli documenti:</a:t>
            </a:r>
          </a:p>
          <a:p>
            <a:endParaRPr lang="en-CH" sz="1100" dirty="0"/>
          </a:p>
          <a:p>
            <a:r>
              <a:rPr lang="en-CH" sz="1100" dirty="0"/>
              <a:t>“</a:t>
            </a:r>
            <a:r>
              <a:rPr lang="en-CH" sz="1100" b="1" dirty="0">
                <a:solidFill>
                  <a:srgbClr val="92D050"/>
                </a:solidFill>
              </a:rPr>
              <a:t>Ibex.csv</a:t>
            </a:r>
            <a:r>
              <a:rPr lang="en-CH" sz="1100" dirty="0"/>
              <a:t>”:</a:t>
            </a:r>
          </a:p>
          <a:p>
            <a:r>
              <a:rPr lang="en-CH" sz="1100" dirty="0"/>
              <a:t>	→ puoi dargli il nome della tua specie (per es. “stambecchi.csv”, “cervi.csv”,...)</a:t>
            </a:r>
          </a:p>
          <a:p>
            <a:r>
              <a:rPr lang="en-CH" sz="1100" dirty="0"/>
              <a:t>	→ il nome dà il titolo all’applicazione</a:t>
            </a:r>
          </a:p>
          <a:p>
            <a:r>
              <a:rPr lang="en-CH" sz="1100" dirty="0"/>
              <a:t>	→ include tutti i dati degli animali marcati</a:t>
            </a:r>
          </a:p>
          <a:p>
            <a:endParaRPr lang="en-CH" sz="1100" dirty="0"/>
          </a:p>
          <a:p>
            <a:r>
              <a:rPr lang="en-CH" sz="1100" dirty="0"/>
              <a:t>“</a:t>
            </a:r>
            <a:r>
              <a:rPr lang="en-CH" sz="1100" b="1" dirty="0">
                <a:solidFill>
                  <a:srgbClr val="00B0F0"/>
                </a:solidFill>
              </a:rPr>
              <a:t>index.html</a:t>
            </a:r>
            <a:r>
              <a:rPr lang="en-CH" sz="1100" dirty="0"/>
              <a:t>”: </a:t>
            </a:r>
          </a:p>
          <a:p>
            <a:r>
              <a:rPr lang="en-CH" sz="1100" dirty="0"/>
              <a:t>	→ é praticamente un documento di testo, ma</a:t>
            </a:r>
          </a:p>
          <a:p>
            <a:r>
              <a:rPr lang="en-CH" sz="1100" dirty="0"/>
              <a:t>	→ si apre in un browser come firefox, chrome, edge, ecc.</a:t>
            </a:r>
          </a:p>
          <a:p>
            <a:r>
              <a:rPr lang="en-CH" sz="1100" dirty="0"/>
              <a:t>	→ é locale (sul computer o sul telefono), non devi installare niente e non usa internet</a:t>
            </a:r>
          </a:p>
          <a:p>
            <a:endParaRPr lang="en-CH" sz="1100" dirty="0"/>
          </a:p>
          <a:p>
            <a:endParaRPr lang="en-CH" sz="1100" dirty="0"/>
          </a:p>
          <a:p>
            <a:r>
              <a:rPr lang="en-CH" sz="1100" b="1" dirty="0"/>
              <a:t>Come funziona?</a:t>
            </a:r>
          </a:p>
          <a:p>
            <a:endParaRPr lang="en-CH" sz="400" dirty="0"/>
          </a:p>
          <a:p>
            <a:r>
              <a:rPr lang="en-CH" sz="1100" dirty="0"/>
              <a:t>1 – Salva entrambi i documenti sul </a:t>
            </a:r>
            <a:r>
              <a:rPr lang="en-CH" sz="1100" u="sng" dirty="0"/>
              <a:t>computer</a:t>
            </a:r>
          </a:p>
          <a:p>
            <a:endParaRPr lang="en-CH" sz="400" dirty="0"/>
          </a:p>
          <a:p>
            <a:r>
              <a:rPr lang="en-CH" sz="1100" dirty="0"/>
              <a:t>2 – Apri il documento </a:t>
            </a:r>
            <a:r>
              <a:rPr lang="en-CH" sz="1100" dirty="0">
                <a:solidFill>
                  <a:srgbClr val="92D050"/>
                </a:solidFill>
              </a:rPr>
              <a:t>Ibex.csv</a:t>
            </a:r>
            <a:r>
              <a:rPr lang="en-CH" sz="1100" dirty="0"/>
              <a:t> in Excel</a:t>
            </a:r>
          </a:p>
          <a:p>
            <a:r>
              <a:rPr lang="en-CH" sz="1100" dirty="0"/>
              <a:t>       PRIMA COLONNA, metti la </a:t>
            </a:r>
            <a:r>
              <a:rPr lang="en-CH" sz="1100" u="sng" dirty="0"/>
              <a:t>tua lingua </a:t>
            </a:r>
            <a:r>
              <a:rPr lang="en-CH" sz="1100" dirty="0"/>
              <a:t>nella cella </a:t>
            </a:r>
            <a:r>
              <a:rPr lang="en-CH" sz="1100" u="sng" dirty="0"/>
              <a:t>A1</a:t>
            </a:r>
          </a:p>
          <a:p>
            <a:r>
              <a:rPr lang="en-CH" sz="1100" dirty="0"/>
              <a:t>       RESTO della tabella: cambia i dati con quelli per i </a:t>
            </a:r>
          </a:p>
          <a:p>
            <a:r>
              <a:rPr lang="en-CH" sz="1100" dirty="0"/>
              <a:t>       tuoi animali</a:t>
            </a:r>
          </a:p>
          <a:p>
            <a:pPr marL="628650" lvl="1" indent="-171450">
              <a:lnSpc>
                <a:spcPct val="114000"/>
              </a:lnSpc>
              <a:buFont typeface="System Font Regular"/>
              <a:buChar char="-"/>
            </a:pPr>
            <a:r>
              <a:rPr lang="en-GB" sz="1050" dirty="0" err="1"/>
              <a:t>Individ_ID</a:t>
            </a:r>
            <a:endParaRPr lang="en-GB" sz="1050" dirty="0"/>
          </a:p>
          <a:p>
            <a:pPr marL="628650" lvl="1" indent="-171450">
              <a:lnSpc>
                <a:spcPct val="114000"/>
              </a:lnSpc>
              <a:buFont typeface="System Font Regular"/>
              <a:buChar char="-"/>
            </a:pPr>
            <a:r>
              <a:rPr lang="en-GB" sz="1050" dirty="0" err="1"/>
              <a:t>Individ_Name</a:t>
            </a:r>
            <a:endParaRPr lang="en-GB" sz="1050" dirty="0"/>
          </a:p>
          <a:p>
            <a:pPr marL="628650" lvl="1" indent="-171450">
              <a:lnSpc>
                <a:spcPct val="114000"/>
              </a:lnSpc>
              <a:buFont typeface="System Font Regular"/>
              <a:buChar char="-"/>
            </a:pPr>
            <a:r>
              <a:rPr lang="en-GB" sz="1050" dirty="0"/>
              <a:t>Sex</a:t>
            </a:r>
          </a:p>
          <a:p>
            <a:pPr marL="628650" lvl="1" indent="-171450">
              <a:lnSpc>
                <a:spcPct val="114000"/>
              </a:lnSpc>
              <a:buFont typeface="System Font Regular"/>
              <a:buChar char="-"/>
            </a:pPr>
            <a:r>
              <a:rPr lang="en-GB" sz="1050" dirty="0" err="1"/>
              <a:t>Age_Cohort</a:t>
            </a:r>
            <a:r>
              <a:rPr lang="en-GB" sz="1050" dirty="0"/>
              <a:t> = </a:t>
            </a:r>
            <a:r>
              <a:rPr lang="en-GB" sz="1050" dirty="0" err="1"/>
              <a:t>età</a:t>
            </a:r>
            <a:r>
              <a:rPr lang="en-GB" sz="1050" dirty="0"/>
              <a:t> o </a:t>
            </a:r>
            <a:r>
              <a:rPr lang="en-GB" sz="1050" dirty="0" err="1"/>
              <a:t>coorte</a:t>
            </a:r>
            <a:endParaRPr lang="en-GB" sz="1050" dirty="0"/>
          </a:p>
          <a:p>
            <a:pPr lvl="1">
              <a:lnSpc>
                <a:spcPct val="114000"/>
              </a:lnSpc>
            </a:pPr>
            <a:endParaRPr lang="en-GB" sz="1050" dirty="0"/>
          </a:p>
          <a:p>
            <a:pPr marL="628650" lvl="1" indent="-171450">
              <a:buFont typeface="System Font Regular"/>
              <a:buChar char="-"/>
            </a:pPr>
            <a:r>
              <a:rPr lang="en-GB" sz="1050" dirty="0"/>
              <a:t>Mark_R_1_Farbe 	=&gt; </a:t>
            </a:r>
            <a:r>
              <a:rPr lang="en-GB" sz="1050" dirty="0" err="1"/>
              <a:t>colore</a:t>
            </a:r>
            <a:r>
              <a:rPr lang="en-GB" sz="1050" dirty="0"/>
              <a:t>, </a:t>
            </a:r>
            <a:r>
              <a:rPr lang="en-GB" sz="1050" dirty="0" err="1"/>
              <a:t>destra</a:t>
            </a:r>
            <a:r>
              <a:rPr lang="en-GB" sz="1050" dirty="0"/>
              <a:t>, </a:t>
            </a:r>
            <a:r>
              <a:rPr lang="en-GB" sz="1050" dirty="0" err="1"/>
              <a:t>davanti</a:t>
            </a:r>
            <a:endParaRPr lang="en-GB" sz="1050" dirty="0"/>
          </a:p>
          <a:p>
            <a:pPr marL="628650" lvl="1" indent="-171450">
              <a:buFont typeface="System Font Regular"/>
              <a:buChar char="-"/>
            </a:pPr>
            <a:r>
              <a:rPr lang="en-GB" sz="1050" dirty="0"/>
              <a:t>Mark_R_1_Nr        	=&gt; </a:t>
            </a:r>
            <a:r>
              <a:rPr lang="en-GB" sz="1050" dirty="0" err="1"/>
              <a:t>evtl</a:t>
            </a:r>
            <a:r>
              <a:rPr lang="en-GB" sz="1050" dirty="0"/>
              <a:t>. </a:t>
            </a:r>
            <a:r>
              <a:rPr lang="en-GB" sz="1050" dirty="0" err="1"/>
              <a:t>numero</a:t>
            </a:r>
            <a:endParaRPr lang="en-GB" sz="1050" dirty="0"/>
          </a:p>
          <a:p>
            <a:pPr marL="628650" lvl="1" indent="-171450">
              <a:buFont typeface="System Font Regular"/>
              <a:buChar char="-"/>
            </a:pPr>
            <a:r>
              <a:rPr lang="en-GB" sz="1050" dirty="0"/>
              <a:t>Mark_R_2_Farbe 	=&gt; </a:t>
            </a:r>
            <a:r>
              <a:rPr lang="en-GB" sz="1050" dirty="0" err="1"/>
              <a:t>colore</a:t>
            </a:r>
            <a:r>
              <a:rPr lang="en-GB" sz="1050" dirty="0"/>
              <a:t>, </a:t>
            </a:r>
            <a:r>
              <a:rPr lang="en-GB" sz="1050" dirty="0" err="1"/>
              <a:t>destra</a:t>
            </a:r>
            <a:r>
              <a:rPr lang="en-GB" sz="1050" dirty="0"/>
              <a:t>, </a:t>
            </a:r>
            <a:r>
              <a:rPr lang="en-GB" sz="1050" dirty="0" err="1"/>
              <a:t>dietro</a:t>
            </a:r>
            <a:endParaRPr lang="en-GB" sz="1050" u="sng" dirty="0"/>
          </a:p>
          <a:p>
            <a:pPr marL="628650" lvl="1" indent="-171450">
              <a:buFont typeface="System Font Regular"/>
              <a:buChar char="-"/>
            </a:pPr>
            <a:r>
              <a:rPr lang="en-GB" sz="1050" dirty="0"/>
              <a:t>Mark_R_2_Nr        	=&gt; </a:t>
            </a:r>
            <a:r>
              <a:rPr lang="en-GB" sz="1050" dirty="0" err="1"/>
              <a:t>evtl</a:t>
            </a:r>
            <a:r>
              <a:rPr lang="en-GB" sz="1050" dirty="0"/>
              <a:t>. </a:t>
            </a:r>
            <a:r>
              <a:rPr lang="en-GB" sz="1050" dirty="0" err="1"/>
              <a:t>numero</a:t>
            </a:r>
            <a:endParaRPr lang="en-GB" sz="1050" dirty="0"/>
          </a:p>
          <a:p>
            <a:pPr marL="628650" lvl="1" indent="-171450">
              <a:buFont typeface="System Font Regular"/>
              <a:buChar char="-"/>
            </a:pPr>
            <a:r>
              <a:rPr lang="en-GB" sz="1050" dirty="0"/>
              <a:t>Mark_L_1_Farbe 	=&gt; </a:t>
            </a:r>
            <a:r>
              <a:rPr lang="en-GB" sz="1050" dirty="0" err="1"/>
              <a:t>colore</a:t>
            </a:r>
            <a:r>
              <a:rPr lang="en-GB" sz="1050" dirty="0"/>
              <a:t>, sinistra, </a:t>
            </a:r>
            <a:r>
              <a:rPr lang="en-GB" sz="1050" dirty="0" err="1"/>
              <a:t>davanti</a:t>
            </a:r>
            <a:endParaRPr lang="en-GB" sz="1050" dirty="0"/>
          </a:p>
          <a:p>
            <a:pPr marL="628650" lvl="1" indent="-171450">
              <a:buFont typeface="System Font Regular"/>
              <a:buChar char="-"/>
            </a:pPr>
            <a:r>
              <a:rPr lang="en-GB" sz="1050" dirty="0"/>
              <a:t>Mark_L_1_Nr        	=&gt; </a:t>
            </a:r>
            <a:r>
              <a:rPr lang="en-GB" sz="1050" dirty="0" err="1"/>
              <a:t>evtl</a:t>
            </a:r>
            <a:r>
              <a:rPr lang="en-GB" sz="1050" dirty="0"/>
              <a:t>. </a:t>
            </a:r>
            <a:r>
              <a:rPr lang="en-GB" sz="1050" dirty="0" err="1"/>
              <a:t>numero</a:t>
            </a:r>
            <a:endParaRPr lang="en-GB" sz="1050" dirty="0"/>
          </a:p>
          <a:p>
            <a:pPr marL="628650" lvl="1" indent="-171450">
              <a:buFont typeface="System Font Regular"/>
              <a:buChar char="-"/>
            </a:pPr>
            <a:r>
              <a:rPr lang="en-GB" sz="1050" dirty="0"/>
              <a:t>Mark_L_2_Farbe 	=&gt; </a:t>
            </a:r>
            <a:r>
              <a:rPr lang="en-GB" sz="1050" dirty="0" err="1"/>
              <a:t>colore</a:t>
            </a:r>
            <a:r>
              <a:rPr lang="en-GB" sz="1050" dirty="0"/>
              <a:t>, sinistra, </a:t>
            </a:r>
            <a:r>
              <a:rPr lang="en-GB" sz="1050" dirty="0" err="1"/>
              <a:t>dietro</a:t>
            </a:r>
            <a:endParaRPr lang="en-GB" sz="1050" dirty="0"/>
          </a:p>
          <a:p>
            <a:pPr marL="628650" lvl="1" indent="-171450">
              <a:buFont typeface="System Font Regular"/>
              <a:buChar char="-"/>
            </a:pPr>
            <a:r>
              <a:rPr lang="en-GB" sz="1050" dirty="0"/>
              <a:t>Mark_L_2_Nr        	=&gt; </a:t>
            </a:r>
            <a:r>
              <a:rPr lang="en-GB" sz="1050" dirty="0" err="1"/>
              <a:t>evtl</a:t>
            </a:r>
            <a:r>
              <a:rPr lang="en-GB" sz="1050" dirty="0"/>
              <a:t>. </a:t>
            </a:r>
            <a:r>
              <a:rPr lang="en-GB" sz="1050" dirty="0" err="1"/>
              <a:t>numero</a:t>
            </a:r>
            <a:endParaRPr lang="en-GB" sz="1050" dirty="0"/>
          </a:p>
          <a:p>
            <a:pPr marL="628650" lvl="1" indent="-171450">
              <a:lnSpc>
                <a:spcPct val="114000"/>
              </a:lnSpc>
              <a:buFont typeface="System Font Regular"/>
              <a:buChar char="-"/>
            </a:pPr>
            <a:r>
              <a:rPr lang="en-GB" sz="1050" dirty="0"/>
              <a:t>collar = “</a:t>
            </a:r>
            <a:r>
              <a:rPr lang="en-GB" sz="1050" dirty="0" err="1"/>
              <a:t>sì</a:t>
            </a:r>
            <a:r>
              <a:rPr lang="en-GB" sz="1050" dirty="0"/>
              <a:t>” </a:t>
            </a:r>
            <a:r>
              <a:rPr lang="en-GB" sz="1050" dirty="0" err="1"/>
              <a:t>oppure</a:t>
            </a:r>
            <a:r>
              <a:rPr lang="en-GB" sz="1050" dirty="0"/>
              <a:t> </a:t>
            </a:r>
            <a:r>
              <a:rPr lang="en-GB" sz="1050" dirty="0" err="1"/>
              <a:t>numero</a:t>
            </a:r>
            <a:endParaRPr lang="en-GB" sz="1050" dirty="0"/>
          </a:p>
          <a:p>
            <a:pPr marL="628650" lvl="1" indent="-171450">
              <a:lnSpc>
                <a:spcPct val="114000"/>
              </a:lnSpc>
              <a:buFont typeface="System Font Regular"/>
              <a:buChar char="-"/>
            </a:pPr>
            <a:r>
              <a:rPr lang="en-GB" sz="1050" dirty="0"/>
              <a:t>remark =&gt; </a:t>
            </a:r>
            <a:r>
              <a:rPr lang="en-GB" sz="1050" dirty="0" err="1"/>
              <a:t>qualsiasi</a:t>
            </a:r>
            <a:r>
              <a:rPr lang="en-GB" sz="1050" dirty="0"/>
              <a:t> </a:t>
            </a:r>
            <a:r>
              <a:rPr lang="en-GB" sz="1050" dirty="0" err="1"/>
              <a:t>altra</a:t>
            </a:r>
            <a:r>
              <a:rPr lang="en-GB" sz="1050" dirty="0"/>
              <a:t> </a:t>
            </a:r>
            <a:r>
              <a:rPr lang="en-GB" sz="1050" dirty="0" err="1"/>
              <a:t>informazione</a:t>
            </a:r>
            <a:r>
              <a:rPr lang="en-GB" sz="1050" dirty="0"/>
              <a:t> utile </a:t>
            </a:r>
            <a:r>
              <a:rPr lang="en-GB" sz="1050" dirty="0" err="1"/>
              <a:t>sull’individuo</a:t>
            </a:r>
            <a:endParaRPr lang="en-GB" sz="1050" dirty="0"/>
          </a:p>
          <a:p>
            <a:endParaRPr lang="en-CH" sz="1100" dirty="0"/>
          </a:p>
          <a:p>
            <a:endParaRPr lang="en-CH" sz="1100" dirty="0"/>
          </a:p>
          <a:p>
            <a:r>
              <a:rPr lang="en-CH" sz="1100" dirty="0"/>
              <a:t>3 – Spedisci i due documenti (.csv e index.html) al tuo telefono</a:t>
            </a:r>
          </a:p>
          <a:p>
            <a:endParaRPr lang="en-CH" sz="1100" dirty="0"/>
          </a:p>
          <a:p>
            <a:r>
              <a:rPr lang="en-CH" sz="1100" dirty="0"/>
              <a:t>4 – Finito! Apri il file index.html e importa il tuo file CSV, es. “Stambecchi.csv”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DBBA319-CA0C-3E84-D3FC-B074C85C78F0}"/>
              </a:ext>
            </a:extLst>
          </p:cNvPr>
          <p:cNvGrpSpPr/>
          <p:nvPr/>
        </p:nvGrpSpPr>
        <p:grpSpPr>
          <a:xfrm>
            <a:off x="1540721" y="3262670"/>
            <a:ext cx="5142155" cy="3000017"/>
            <a:chOff x="1524000" y="3129341"/>
            <a:chExt cx="5142155" cy="3000017"/>
          </a:xfrm>
        </p:grpSpPr>
        <p:sp>
          <p:nvSpPr>
            <p:cNvPr id="40" name="Left Brace 39">
              <a:extLst>
                <a:ext uri="{FF2B5EF4-FFF2-40B4-BE49-F238E27FC236}">
                  <a16:creationId xmlns:a16="http://schemas.microsoft.com/office/drawing/2014/main" id="{CAA8B88B-B211-3E05-1703-D6DE9481A413}"/>
                </a:ext>
              </a:extLst>
            </p:cNvPr>
            <p:cNvSpPr/>
            <p:nvPr/>
          </p:nvSpPr>
          <p:spPr>
            <a:xfrm flipH="1">
              <a:off x="3664899" y="4787455"/>
              <a:ext cx="514364" cy="1341903"/>
            </a:xfrm>
            <a:prstGeom prst="lef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E740A05-8216-6E7A-E0E5-27A4992368ED}"/>
                </a:ext>
              </a:extLst>
            </p:cNvPr>
            <p:cNvSpPr txBox="1"/>
            <p:nvPr/>
          </p:nvSpPr>
          <p:spPr>
            <a:xfrm>
              <a:off x="4179263" y="5242962"/>
              <a:ext cx="197348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100" dirty="0" err="1"/>
                <a:t>marcature</a:t>
              </a:r>
              <a:r>
                <a:rPr lang="en-GB" sz="1100" dirty="0"/>
                <a:t> </a:t>
              </a:r>
            </a:p>
            <a:p>
              <a:r>
                <a:rPr lang="en-GB" sz="1100" dirty="0"/>
                <a:t>(per es. </a:t>
              </a:r>
              <a:r>
                <a:rPr lang="en-GB" sz="1100" dirty="0" err="1"/>
                <a:t>marcature</a:t>
              </a:r>
              <a:r>
                <a:rPr lang="en-GB" sz="1100" dirty="0"/>
                <a:t> </a:t>
              </a:r>
              <a:r>
                <a:rPr lang="en-GB" sz="1100" dirty="0" err="1"/>
                <a:t>orecchie</a:t>
              </a:r>
              <a:r>
                <a:rPr lang="en-GB" sz="1100" dirty="0"/>
                <a:t>) </a:t>
              </a:r>
              <a:endParaRPr lang="en-CH" sz="1100" dirty="0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8EF405E0-D321-BDA5-A1D9-F38023817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24734" y="3129341"/>
              <a:ext cx="2741421" cy="1475158"/>
            </a:xfrm>
            <a:prstGeom prst="rect">
              <a:avLst/>
            </a:prstGeom>
          </p:spPr>
        </p:pic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BB22B423-2CBA-184A-1432-781E9BA0F3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74043" y="3211071"/>
              <a:ext cx="378757" cy="228823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Left Brace 65">
              <a:extLst>
                <a:ext uri="{FF2B5EF4-FFF2-40B4-BE49-F238E27FC236}">
                  <a16:creationId xmlns:a16="http://schemas.microsoft.com/office/drawing/2014/main" id="{9FE58FF9-5CBF-F1E4-475D-FE2A874441B9}"/>
                </a:ext>
              </a:extLst>
            </p:cNvPr>
            <p:cNvSpPr/>
            <p:nvPr/>
          </p:nvSpPr>
          <p:spPr>
            <a:xfrm>
              <a:off x="3691884" y="3254678"/>
              <a:ext cx="460394" cy="1341903"/>
            </a:xfrm>
            <a:prstGeom prst="leftBrac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DF2932E2-DBC2-124D-59C3-EF613583F39F}"/>
                </a:ext>
              </a:extLst>
            </p:cNvPr>
            <p:cNvCxnSpPr>
              <a:cxnSpLocks/>
            </p:cNvCxnSpPr>
            <p:nvPr/>
          </p:nvCxnSpPr>
          <p:spPr>
            <a:xfrm>
              <a:off x="1524000" y="3771930"/>
              <a:ext cx="2092287" cy="147436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73" name="Picture 72">
            <a:extLst>
              <a:ext uri="{FF2B5EF4-FFF2-40B4-BE49-F238E27FC236}">
                <a16:creationId xmlns:a16="http://schemas.microsoft.com/office/drawing/2014/main" id="{6DECE405-0D17-D722-2D4E-C6A5D84D9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675" y="1400349"/>
            <a:ext cx="1239963" cy="449067"/>
          </a:xfrm>
          <a:prstGeom prst="rect">
            <a:avLst/>
          </a:prstGeom>
        </p:spPr>
      </p:pic>
      <p:cxnSp>
        <p:nvCxnSpPr>
          <p:cNvPr id="75" name="Elbow Connector 74">
            <a:extLst>
              <a:ext uri="{FF2B5EF4-FFF2-40B4-BE49-F238E27FC236}">
                <a16:creationId xmlns:a16="http://schemas.microsoft.com/office/drawing/2014/main" id="{892C77A3-7346-1824-E19B-6628A49BE429}"/>
              </a:ext>
            </a:extLst>
          </p:cNvPr>
          <p:cNvCxnSpPr>
            <a:endCxn id="73" idx="0"/>
          </p:cNvCxnSpPr>
          <p:nvPr/>
        </p:nvCxnSpPr>
        <p:spPr>
          <a:xfrm>
            <a:off x="5636969" y="1289975"/>
            <a:ext cx="383688" cy="110374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731745F-42ED-2DC5-A4BB-407D1132B811}"/>
              </a:ext>
            </a:extLst>
          </p:cNvPr>
          <p:cNvGrpSpPr/>
          <p:nvPr/>
        </p:nvGrpSpPr>
        <p:grpSpPr>
          <a:xfrm>
            <a:off x="157218" y="7506980"/>
            <a:ext cx="6574559" cy="2280082"/>
            <a:chOff x="149508" y="7305790"/>
            <a:chExt cx="6600175" cy="2421372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916A3091-6F07-50D0-7BEA-A5C9E3F982D2}"/>
                </a:ext>
              </a:extLst>
            </p:cNvPr>
            <p:cNvGrpSpPr/>
            <p:nvPr/>
          </p:nvGrpSpPr>
          <p:grpSpPr>
            <a:xfrm>
              <a:off x="149508" y="7305790"/>
              <a:ext cx="3158333" cy="2086206"/>
              <a:chOff x="166228" y="7607448"/>
              <a:chExt cx="3158333" cy="2086206"/>
            </a:xfrm>
          </p:grpSpPr>
          <p:pic>
            <p:nvPicPr>
              <p:cNvPr id="76" name="Picture 75">
                <a:extLst>
                  <a:ext uri="{FF2B5EF4-FFF2-40B4-BE49-F238E27FC236}">
                    <a16:creationId xmlns:a16="http://schemas.microsoft.com/office/drawing/2014/main" id="{61BA5843-8B4D-587C-1AC2-20A3A96799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1844" y="7607448"/>
                <a:ext cx="3132717" cy="2086206"/>
              </a:xfrm>
              <a:prstGeom prst="rect">
                <a:avLst/>
              </a:prstGeom>
            </p:spPr>
          </p:pic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340E3971-5A09-0285-8905-B952339F1504}"/>
                  </a:ext>
                </a:extLst>
              </p:cNvPr>
              <p:cNvSpPr/>
              <p:nvPr/>
            </p:nvSpPr>
            <p:spPr>
              <a:xfrm>
                <a:off x="166228" y="7809257"/>
                <a:ext cx="599606" cy="31479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</p:grp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F227D338-9D47-802B-E7AD-9D394F8EA76B}"/>
                </a:ext>
              </a:extLst>
            </p:cNvPr>
            <p:cNvCxnSpPr>
              <a:cxnSpLocks/>
            </p:cNvCxnSpPr>
            <p:nvPr/>
          </p:nvCxnSpPr>
          <p:spPr>
            <a:xfrm>
              <a:off x="3016577" y="8069344"/>
              <a:ext cx="533584" cy="27954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9990DA97-2B7D-731B-E2EC-20873E167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7746"/>
            <a:stretch>
              <a:fillRect/>
            </a:stretch>
          </p:blipFill>
          <p:spPr>
            <a:xfrm>
              <a:off x="3700112" y="7305790"/>
              <a:ext cx="3049571" cy="2421372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6B4839B-D1F7-7585-144E-5B99AE37E9A2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72461" y="353991"/>
            <a:ext cx="319253" cy="302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408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2887</TotalTime>
  <Words>352</Words>
  <Application>Microsoft Macintosh PowerPoint</Application>
  <PresentationFormat>A4 Paper (210x297 mm)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System Font Regular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Dominique Waldvogel</dc:creator>
  <cp:lastModifiedBy>Dominique Waldvogel</cp:lastModifiedBy>
  <cp:revision>12</cp:revision>
  <dcterms:created xsi:type="dcterms:W3CDTF">2026-01-30T11:18:52Z</dcterms:created>
  <dcterms:modified xsi:type="dcterms:W3CDTF">2026-02-01T11:29:31Z</dcterms:modified>
</cp:coreProperties>
</file>